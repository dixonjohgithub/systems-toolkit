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0"/>
            <a:ext cx="3685032" cy="685800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148840"/>
            <a:ext cx="1463040" cy="64008"/>
          </a:xfrm>
          <a:prstGeom prst="rect">
            <a:avLst/>
          </a:prstGeom>
          <a:solidFill>
            <a:srgbClr val="C892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PORTFOLIO GOVERNANCE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7772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Intake &amp;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Governance Platform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434340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phased delivery framework — from intake quality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agile artifact generation.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86800" y="731520"/>
            <a:ext cx="3291840" cy="1280160"/>
          </a:xfrm>
          <a:prstGeom prst="rect">
            <a:avLst/>
          </a:prstGeom>
          <a:solidFill>
            <a:srgbClr val="243B55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731520"/>
            <a:ext cx="3291840" cy="731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0" y="91440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686800" y="1325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0" y="162763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686800" y="2194560"/>
            <a:ext cx="3291840" cy="1280160"/>
          </a:xfrm>
          <a:prstGeom prst="rect">
            <a:avLst/>
          </a:prstGeom>
          <a:solidFill>
            <a:srgbClr val="243B55"/>
          </a:solidFill>
          <a:ln/>
        </p:spPr>
      </p:sp>
      <p:sp>
        <p:nvSpPr>
          <p:cNvPr id="13" name="Shape 11"/>
          <p:cNvSpPr/>
          <p:nvPr/>
        </p:nvSpPr>
        <p:spPr>
          <a:xfrm>
            <a:off x="8686800" y="2194560"/>
            <a:ext cx="3291840" cy="73152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0" y="237744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686800" y="27889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0" y="309067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686800" y="3657600"/>
            <a:ext cx="3291840" cy="1280160"/>
          </a:xfrm>
          <a:prstGeom prst="rect">
            <a:avLst/>
          </a:prstGeom>
          <a:solidFill>
            <a:srgbClr val="243B55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6800" y="3657600"/>
            <a:ext cx="3291840" cy="7315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0" y="384048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686800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0" y="455371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86800" y="5120640"/>
            <a:ext cx="3291840" cy="1280160"/>
          </a:xfrm>
          <a:prstGeom prst="rect">
            <a:avLst/>
          </a:prstGeom>
          <a:solidFill>
            <a:srgbClr val="243B55"/>
          </a:solidFill>
          <a:ln/>
        </p:spPr>
      </p:sp>
      <p:sp>
        <p:nvSpPr>
          <p:cNvPr id="23" name="Shape 21"/>
          <p:cNvSpPr/>
          <p:nvPr/>
        </p:nvSpPr>
        <p:spPr>
          <a:xfrm>
            <a:off x="8686800" y="5120640"/>
            <a:ext cx="3291840" cy="7315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0" y="530352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686800" y="57150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86800" y="601675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SCOPE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AI Ideas — Every Work Request Type.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agent pipeline, validation, and governance runs for all 120+ intakes — all routing to Jira.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370332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783080"/>
            <a:ext cx="3703320" cy="64008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4767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AI Initiatives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80360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GenAI, ML, and automation proposals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25112" y="1783080"/>
            <a:ext cx="370332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783080"/>
            <a:ext cx="3703320" cy="64008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13" name="Text 11"/>
          <p:cNvSpPr/>
          <p:nvPr/>
        </p:nvSpPr>
        <p:spPr>
          <a:xfrm>
            <a:off x="4507992" y="194767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07992" y="246888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Features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07992" y="2880360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Enhancements to existing platforms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84464" y="1783080"/>
            <a:ext cx="370332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4464" y="1783080"/>
            <a:ext cx="3703320" cy="64008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18" name="Text 16"/>
          <p:cNvSpPr/>
          <p:nvPr/>
        </p:nvSpPr>
        <p:spPr>
          <a:xfrm>
            <a:off x="8467344" y="194767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▦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467344" y="246888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Epics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67344" y="2880360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Additions to active roadmaps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206240"/>
            <a:ext cx="370332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4206240"/>
            <a:ext cx="3703320" cy="64008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37083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◑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48640" y="489204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Analytics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303520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and insights requests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25112" y="4206240"/>
            <a:ext cx="370332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4206240"/>
            <a:ext cx="3703320" cy="64008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28" name="Text 26"/>
          <p:cNvSpPr/>
          <p:nvPr/>
        </p:nvSpPr>
        <p:spPr>
          <a:xfrm>
            <a:off x="4507992" y="437083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507992" y="489204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07992" y="5303520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improvement proposals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84464" y="4206240"/>
            <a:ext cx="370332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84464" y="4206240"/>
            <a:ext cx="3703320" cy="64008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33" name="Text 31"/>
          <p:cNvSpPr/>
          <p:nvPr/>
        </p:nvSpPr>
        <p:spPr>
          <a:xfrm>
            <a:off x="8467344" y="437083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467344" y="489204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467344" y="5303520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and team routing requests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intake type is one YAML config file. Adding a new category requires no code change to the platform.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"/>
            <a:ext cx="1005840" cy="38404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01168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MVP0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554480" y="256032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QUALITY — THE FOUNDATION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554480" y="41148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Quality — The Foundation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11430000" cy="566928"/>
          </a:xfrm>
          <a:prstGeom prst="rect">
            <a:avLst/>
          </a:prstGeom>
          <a:solidFill>
            <a:srgbClr val="EEF4FB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61288"/>
            <a:ext cx="11064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quality means every submission is complete enough to action, specific enough to evaluate, and unique enough to justify.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810512"/>
            <a:ext cx="36118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810512"/>
            <a:ext cx="3611880" cy="640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92024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2377440"/>
            <a:ext cx="3337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288950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3163824"/>
            <a:ext cx="3337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field has a substantive response — no blanks, no TBD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389534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4169664"/>
            <a:ext cx="3337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chase clarification 2-3× before an intake is workable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490118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5175504"/>
            <a:ext cx="3337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Agent retries up to 3× with specific guidance; vague answers never reach the reviewer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78808" y="1810512"/>
            <a:ext cx="36118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78808" y="1810512"/>
            <a:ext cx="3611880" cy="640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1" name="Text 19"/>
          <p:cNvSpPr/>
          <p:nvPr/>
        </p:nvSpPr>
        <p:spPr>
          <a:xfrm>
            <a:off x="4315968" y="192024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315968" y="2377440"/>
            <a:ext cx="3337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Guideline Adherence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15968" y="288950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315968" y="3163824"/>
            <a:ext cx="3337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"Does this answer actually address what is being asked at the required level of specificity?"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315968" y="389534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315968" y="4169664"/>
            <a:ext cx="3337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"Improve efficiency" passes a static form. It does not pass a Validation Agent configured for specificity.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315968" y="490118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315968" y="5175504"/>
            <a:ext cx="3337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Per-question criteria defined by the intake owner — enforced consistently on every submission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91856" y="1810512"/>
            <a:ext cx="36118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91856" y="1810512"/>
            <a:ext cx="3611880" cy="640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1" name="Text 29"/>
          <p:cNvSpPr/>
          <p:nvPr/>
        </p:nvSpPr>
        <p:spPr>
          <a:xfrm>
            <a:off x="8129016" y="192024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129016" y="2377440"/>
            <a:ext cx="3337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Non-Duplication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129016" y="288950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129016" y="3163824"/>
            <a:ext cx="3337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submission does not duplicate active, in-progress, or recently completed work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129016" y="389534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129016" y="4169664"/>
            <a:ext cx="3337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builds discovered mid-development after environment access and headcount already committed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29016" y="490118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129016" y="5175504"/>
            <a:ext cx="3337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Exact-match detection in MVP0; expanded to three-layer detection (exact/fuzzy/semantic) in MVP1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5989320"/>
            <a:ext cx="1143000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604418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is not a feature of the platform — it is a property of every submission that comes out of it. Quality is the floor, not the ceiling.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"/>
            <a:ext cx="1005840" cy="384048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01168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554480" y="256032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DETECTION — PORTFOLIO VISIBILITY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554480" y="41148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Detection — Portfolio Visibility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11430000" cy="548640"/>
          </a:xfrm>
          <a:prstGeom prst="rect">
            <a:avLst/>
          </a:prstGeom>
          <a:solidFill>
            <a:srgbClr val="EEF4FB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61288"/>
            <a:ext cx="11064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work already happening somewhere else in the organization? MVP1 answers that question before any ticket is created.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783080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FAILURE MODES ELIMINATED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309360" y="1783080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DETECTION LAYERS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2103120"/>
            <a:ext cx="5394960" cy="1234440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176272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Builds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2542032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teams build identical capability. Discovery mid-development after full cost sunk.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474720"/>
            <a:ext cx="5394960" cy="1234440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547872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Collaboration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3913632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asset built 90 days ago sits unused. New effort rebuilds from scratch.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4846320"/>
            <a:ext cx="5394960" cy="1234440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919472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Workstreams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5285232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overlapping Epics run in parallel. Redundancy compounds every sprint.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309360" y="2103120"/>
            <a:ext cx="5394960" cy="1234440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2103120"/>
            <a:ext cx="411480" cy="123444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48716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784848" y="217627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84848" y="2542032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JQL-based Jira query — identical or near-identical titles. Highest confidence.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3474720"/>
            <a:ext cx="5394960" cy="1234440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9360" y="3474720"/>
            <a:ext cx="411480" cy="123444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27" name="Text 25"/>
          <p:cNvSpPr/>
          <p:nvPr/>
        </p:nvSpPr>
        <p:spPr>
          <a:xfrm>
            <a:off x="6309360" y="385876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84848" y="354787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Match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84848" y="3913632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Token-level similarity — same initiative in different departmental vocabulary.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9360" y="4846320"/>
            <a:ext cx="5394960" cy="1234440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09360" y="4846320"/>
            <a:ext cx="411480" cy="123444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523036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491947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Match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784848" y="5285232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embeddings + cosine similarity — meaning-level duplicates regardless of wording.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5989320"/>
            <a:ext cx="11430000" cy="7498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604418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MVP1 blocks submission until candidates are acknowledged. Collaborate, reuse, or consciously proceed as distinct — the submitter decides, but never unknowingly.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"/>
            <a:ext cx="1005840" cy="384048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01168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554480" y="256032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CLASSIFICATION — SMARTER PRIORITIZATION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554480" y="41148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Classification — Smarter Prioritization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11430000" cy="548640"/>
          </a:xfrm>
          <a:prstGeom prst="rect">
            <a:avLst/>
          </a:prstGeom>
          <a:solidFill>
            <a:srgbClr val="FFF8E8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61288"/>
            <a:ext cx="11064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new work, an extension of existing work, or work that already belongs under an Epic? Classification is the prerequisite for meaningful prioritization.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783080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— WORK TYPE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2103120"/>
            <a:ext cx="5394960" cy="621792"/>
          </a:xfrm>
          <a:prstGeom prst="rect">
            <a:avLst/>
          </a:prstGeom>
          <a:solidFill>
            <a:srgbClr val="EEF4FB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13969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Initiative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242316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Epic creation + business case. Highest scrutiny.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2798064"/>
            <a:ext cx="53949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346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on Existing Epic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3118104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to existing Epic backlog. No new Epic required.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3493008"/>
            <a:ext cx="5394960" cy="621792"/>
          </a:xfrm>
          <a:prstGeom prst="rect">
            <a:avLst/>
          </a:prstGeom>
          <a:solidFill>
            <a:srgbClr val="EEF4FB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5295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GenAI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" y="3813048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AI governance + model risk review queue.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5760" y="4187952"/>
            <a:ext cx="53949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224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4507992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to automation delivery with complexity pre-classified.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4882896"/>
            <a:ext cx="5394960" cy="621792"/>
          </a:xfrm>
          <a:prstGeom prst="rect">
            <a:avLst/>
          </a:prstGeom>
          <a:solidFill>
            <a:srgbClr val="EEF4FB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91947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Analytics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5202936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for data availability and existing asset reuse.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5577840"/>
            <a:ext cx="53949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56144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/ Ops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2920" y="58978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to appropriate team by system ownership + urgency.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09360" y="1783080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— PORTFOLIO POSITION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103120"/>
            <a:ext cx="5394960" cy="731520"/>
          </a:xfrm>
          <a:prstGeom prst="rect">
            <a:avLst/>
          </a:prstGeom>
          <a:solidFill>
            <a:srgbClr val="FFF8E8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215798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Epic owns this space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248716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becomes a feature candidate — not a new initiative.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09360" y="2926080"/>
            <a:ext cx="5394960" cy="731520"/>
          </a:xfrm>
          <a:prstGeom prst="rect">
            <a:avLst/>
          </a:prstGeom>
          <a:solidFill>
            <a:srgbClr val="FFF8E8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46520" y="298094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in-progress work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46520" y="331012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for cross-team coordination before planning begins.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309360" y="3749040"/>
            <a:ext cx="5394960" cy="731520"/>
          </a:xfrm>
          <a:prstGeom prst="rect">
            <a:avLst/>
          </a:prstGeom>
          <a:solidFill>
            <a:srgbClr val="FFF8E8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46520" y="38039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Genuinely net new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46520" y="413308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Enters new initiative queue for full business case review.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09360" y="4617720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— PRIORITIZATION INPUTS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309360" y="4919472"/>
            <a:ext cx="2606040" cy="1005840"/>
          </a:xfrm>
          <a:prstGeom prst="rect">
            <a:avLst/>
          </a:prstGeom>
          <a:solidFill>
            <a:srgbClr val="FFF8E8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46520" y="496519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Availability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46520" y="5285232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to right team. Surfaces complexity tier so leads can assess manpower impact.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9006840" y="4919472"/>
            <a:ext cx="2697480" cy="1005840"/>
          </a:xfrm>
          <a:prstGeom prst="rect">
            <a:avLst/>
          </a:prstGeom>
          <a:solidFill>
            <a:srgbClr val="FFF8E8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0" y="49651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 Alignment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144000" y="5285232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work type + portfolio position so reviewers assess in-scope vs. defer instantly.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65760" y="5989320"/>
            <a:ext cx="11430000" cy="7498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604418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classification a backlog is a list. With classification a backlog is a portfolio — organized by type, positioned against existing work, tagged for prioritization.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"/>
            <a:ext cx="1005840" cy="38404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01168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554480" y="256032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ARTIFACT GENERATION — COMPLIANCE AT CREATION TIME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554480" y="41148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Artifact Generation — Compliance at Creation Time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11430000" cy="548640"/>
          </a:xfrm>
          <a:prstGeom prst="rect">
            <a:avLst/>
          </a:prstGeom>
          <a:solidFill>
            <a:srgbClr val="EEF4FB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61288"/>
            <a:ext cx="11064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compliance is the same problem as intake quality — except it surfaces three sprints into delivery. MVP3 moves the check to the moment of creation.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783080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MVP3 GENERATES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2103120"/>
            <a:ext cx="548640" cy="6858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10312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960120" y="2103120"/>
            <a:ext cx="4800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176272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fields pre-populated from validated intake + classification output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944368"/>
            <a:ext cx="548640" cy="6858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944368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60120" y="2944368"/>
            <a:ext cx="4800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01752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from intake, acceptance criteria following company definition-of-done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3785616"/>
            <a:ext cx="548640" cy="6858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785616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960120" y="3785616"/>
            <a:ext cx="4800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3858768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populated from MVP1 duplicate detection and MVP2 portfolio position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4626864"/>
            <a:ext cx="548640" cy="6858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626864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Tags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960120" y="4626864"/>
            <a:ext cx="4800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51560" y="4700016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data / automation tags applied automatically from work type classification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5468112"/>
            <a:ext cx="548640" cy="6858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5468112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60120" y="5468112"/>
            <a:ext cx="4800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51560" y="5541264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tier from MVP2 feeds initial story point guidance for sprint planning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09360" y="1783080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MODES ELIMINATED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09360" y="2103120"/>
            <a:ext cx="5394960" cy="1188720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46520" y="2176272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Non-Compliant Artifacts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46520" y="2542032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Epics and stories that miss company standards. Remediation mid-sprint is costly.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09360" y="3447288"/>
            <a:ext cx="5394960" cy="1188720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46520" y="3520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Stories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46520" y="388620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acceptance criteria, no definition-of-done, no dependency links. Scrum masters chase completeness.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309360" y="4791456"/>
            <a:ext cx="5394960" cy="1188720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46520" y="4864608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Overhead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46520" y="52303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translating approved intakes into Jira artifacts manually. Mechanical work that the platform can do automatically.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5760" y="5989320"/>
            <a:ext cx="11430000" cy="7498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604418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MVP3 runs, the system already knows everything a Jira artifact needs to contain. Generating a compliant Epic is the final output of a process that has been accumulating the right data all along.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SUMMARY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Phases. One Accumulating Platform.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builds on the data and intelligence generated by the previous one.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1188720" cy="84124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691640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216712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Quality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600200" y="1691640"/>
            <a:ext cx="5029200" cy="841248"/>
          </a:xfrm>
          <a:prstGeom prst="rect">
            <a:avLst/>
          </a:prstGeom>
          <a:solidFill>
            <a:srgbClr val="EEF4FB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37360" y="172821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ADDED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737360" y="1947672"/>
            <a:ext cx="4754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complete, guideline-adherent submissions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1691640"/>
            <a:ext cx="5029200" cy="841248"/>
          </a:xfrm>
          <a:prstGeom prst="rect">
            <a:avLst/>
          </a:prstGeom>
          <a:solidFill>
            <a:srgbClr val="FEF2F2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72821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ELIMINATES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812280" y="1947672"/>
            <a:ext cx="4754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back-and-forth · Vague submissions · Incomplete forms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670048"/>
            <a:ext cx="1188720" cy="841248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670048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" y="3145536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Detection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600200" y="2670048"/>
            <a:ext cx="50292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737360" y="270662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ADDED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737360" y="2926080"/>
            <a:ext cx="4754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Three-layer cross-portfolio search across all 120+ intakes and existing Jira Epics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75120" y="2670048"/>
            <a:ext cx="50292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270662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ELIMINATES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812280" y="2926080"/>
            <a:ext cx="4754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builds · Missed collaboration · Parallel workstreams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3648456"/>
            <a:ext cx="1188720" cy="841248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364845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MVP2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65760" y="4123944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600200" y="3648456"/>
            <a:ext cx="5029200" cy="841248"/>
          </a:xfrm>
          <a:prstGeom prst="rect">
            <a:avLst/>
          </a:prstGeom>
          <a:solidFill>
            <a:srgbClr val="EEF4FB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37360" y="368503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ADDED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737360" y="3904488"/>
            <a:ext cx="4754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type classification, portfolio positioning, priority signal generation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75120" y="3648456"/>
            <a:ext cx="5029200" cy="841248"/>
          </a:xfrm>
          <a:prstGeom prst="rect">
            <a:avLst/>
          </a:prstGeom>
          <a:solidFill>
            <a:srgbClr val="FEF2F2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12280" y="368503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ELIMINATES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812280" y="3904488"/>
            <a:ext cx="4754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backlogs · Prioritization without context · Wrong Epic assignments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4626864"/>
            <a:ext cx="1188720" cy="84124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4626864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MVP3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65760" y="51023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Generation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600200" y="4626864"/>
            <a:ext cx="50292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737360" y="4663440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ADDED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1737360" y="4882896"/>
            <a:ext cx="4754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Auto-generated, policy-compliant Jira Epics, stories, and acceptance criteria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75120" y="4626864"/>
            <a:ext cx="50292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12280" y="4663440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ELIMINATES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812280" y="4882896"/>
            <a:ext cx="4754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Non-compliant artifacts · Translation overhead · Mid-sprint remediation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PROTECTION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Is in the Current State.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Adding This Platform.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PLATFORM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0" y="201168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FULL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304288"/>
            <a:ext cx="5303520" cy="431596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2304288"/>
            <a:ext cx="5303520" cy="4315968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48716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120+ forms accept any answer — reviewers chase clarification before any work begins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49300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Duplicate requests create parallel builds discovered mid-development after full cost committed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449884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 portfolio view — leadership cannot see what is active, proposed, or overlapping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5504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Every intake is an island — no shared quality bar, no duplication awareness, no classification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37960" y="248716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Every answer validated in real time — reviewers receive complete, actionable submissions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37960" y="349300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Duplicate surfaced before week one — before environment access or headcount committed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37960" y="449884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Full portfolio visibility — active, pending, classified submissions across all business lines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37960" y="5504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Auto-generated, compliant Jira artifacts — Epic to story, ready for sprint planning on approval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892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200400"/>
            <a:ext cx="1828800" cy="64008"/>
          </a:xfrm>
          <a:prstGeom prst="rect">
            <a:avLst/>
          </a:prstGeom>
          <a:solidFill>
            <a:srgbClr val="C892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QUESTION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of the requests currently in flight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duplicates of work happening in a neighboring team?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33756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answer is unknown — that is the problem.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platform makes it knowable before cost is committed, not after.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4864608"/>
            <a:ext cx="5486400" cy="1627632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95604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Ask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5321808"/>
            <a:ext cx="5120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a 60-day parallel pilot with one business line.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work types. No disruption to existing processes.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92240" y="4864608"/>
            <a:ext cx="5212080" cy="1627632"/>
          </a:xfrm>
          <a:prstGeom prst="rect">
            <a:avLst/>
          </a:prstGeom>
          <a:solidFill>
            <a:srgbClr val="162D4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4983480"/>
            <a:ext cx="4846320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MVP0 Complete · MVP1 Ready · MVP2 In Design · MVP3 Planned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Intake Configs Active · React + FastAPI + Google ADK + Gemini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120+ intakes route to Jira · Config-driven, no code to add intakes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2026-02-26T17:11:10Z</dcterms:created>
  <dcterms:modified xsi:type="dcterms:W3CDTF">2026-02-26T17:11:10Z</dcterms:modified>
</cp:coreProperties>
</file>